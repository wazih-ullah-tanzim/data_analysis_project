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29.jpg" ContentType="image/jpg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image31.jpg" ContentType="image/jpg"/>
  <Override PartName="/ppt/media/image32.jpg" ContentType="image/jpg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71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943600" cy="5943600"/>
          </a:xfrm>
          <a:prstGeom prst="ellipse">
            <a:avLst/>
          </a:prstGeom>
          <a:solidFill>
            <a:srgbClr val="1C2B4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2503" y="4678219"/>
            <a:ext cx="5029200" cy="5029200"/>
          </a:xfrm>
          <a:prstGeom prst="ellipse">
            <a:avLst/>
          </a:prstGeom>
          <a:solidFill>
            <a:srgbClr val="16213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206240"/>
            <a:ext cx="2377440" cy="2377440"/>
          </a:xfrm>
          <a:prstGeom prst="ellipse">
            <a:avLst/>
          </a:prstGeom>
          <a:solidFill>
            <a:srgbClr val="0F3B36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75279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•  GROUP 4: INSIGHT ORBIT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827633"/>
            <a:ext cx="10104120" cy="119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Sales &amp; Customer Behavior Analytics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0100" y="1757041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Pipeline for Rokomari Book Shop  (RCBSAD)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0100" y="2398842"/>
            <a:ext cx="1252728" cy="365760"/>
          </a:xfrm>
          <a:prstGeom prst="roundRect">
            <a:avLst>
              <a:gd name="adj" fmla="val 20000"/>
            </a:avLst>
          </a:prstGeom>
          <a:solidFill>
            <a:srgbClr val="16213A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263" y="2422565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0280" y="2397882"/>
            <a:ext cx="1348740" cy="365760"/>
          </a:xfrm>
          <a:prstGeom prst="roundRect">
            <a:avLst>
              <a:gd name="adj" fmla="val 20000"/>
            </a:avLst>
          </a:prstGeom>
          <a:solidFill>
            <a:srgbClr val="16213A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2422565"/>
            <a:ext cx="1348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39896" y="2393210"/>
            <a:ext cx="2020824" cy="365760"/>
          </a:xfrm>
          <a:prstGeom prst="roundRect">
            <a:avLst>
              <a:gd name="adj" fmla="val 20000"/>
            </a:avLst>
          </a:prstGeom>
          <a:solidFill>
            <a:srgbClr val="16213A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3612" y="239321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39028" y="2382277"/>
            <a:ext cx="1060704" cy="365760"/>
          </a:xfrm>
          <a:prstGeom prst="roundRect">
            <a:avLst>
              <a:gd name="adj" fmla="val 20000"/>
            </a:avLst>
          </a:prstGeom>
          <a:solidFill>
            <a:srgbClr val="16213A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39028" y="2382277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12785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: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5263" y="4504820"/>
            <a:ext cx="8229600" cy="1188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Tanisha Tasnuva  ( Student ID: 0122430015 ) </a:t>
            </a:r>
          </a:p>
          <a:p>
            <a:r>
              <a:rPr lang="en-US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Wazih Ullah Tanzim ( Student ID: </a:t>
            </a:r>
            <a:r>
              <a:rPr lang="en-US" dirty="0">
                <a:solidFill>
                  <a:schemeClr val="bg1"/>
                </a:solidFill>
              </a:rPr>
              <a:t>0122530002 )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r>
              <a:rPr lang="en-US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Parvez Sazzad (Student ID: </a:t>
            </a:r>
            <a:r>
              <a:rPr lang="en-US" dirty="0">
                <a:solidFill>
                  <a:schemeClr val="bg1"/>
                </a:solidFill>
              </a:rPr>
              <a:t>0122510008 )</a:t>
            </a:r>
          </a:p>
        </p:txBody>
      </p:sp>
      <p:sp>
        <p:nvSpPr>
          <p:cNvPr id="18" name="Text 16"/>
          <p:cNvSpPr/>
          <p:nvPr/>
        </p:nvSpPr>
        <p:spPr>
          <a:xfrm>
            <a:off x="822960" y="3198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: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960" y="3644133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Kh. Ehsanur Rahman — Data Science Faculty, UIU   |   MSCSE, Dept. of CSE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Start to Finish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retail-analytics pipeline — from raw synthetic data to a decision-ready Power BI dashboard.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3762" y="3584297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Synthetic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816084" y="3593122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Messy PostgreSQL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3542211" y="3583691"/>
            <a:ext cx="13445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Jupiter notebook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679714" y="3593122"/>
            <a:ext cx="1318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91062" y="3536003"/>
            <a:ext cx="15207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34" name="Shape 23"/>
          <p:cNvSpPr/>
          <p:nvPr/>
        </p:nvSpPr>
        <p:spPr>
          <a:xfrm>
            <a:off x="594360" y="4846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6213A"/>
          </a:solidFill>
          <a:ln/>
        </p:spPr>
      </p:sp>
      <p:sp>
        <p:nvSpPr>
          <p:cNvPr id="35" name="Text 24"/>
          <p:cNvSpPr/>
          <p:nvPr/>
        </p:nvSpPr>
        <p:spPr>
          <a:xfrm>
            <a:off x="944575" y="48691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create a raw synthetic dataset, model a PostgreSQL star schema database (1 fact + 4 dimensions), clean the dataset, segment customers via K-Means, and deliver an interactive BI dashboard with KPIs, slicers, and drill-through visuals to uncover key insights.</a:t>
            </a:r>
            <a:endParaRPr lang="en-US" sz="1450" dirty="0"/>
          </a:p>
        </p:txBody>
      </p:sp>
      <p:sp>
        <p:nvSpPr>
          <p:cNvPr id="36" name="Text 25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BEHAVIOR &amp; SALES ANALYTICS  •  ROKOMARI BOOK SHOP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9EA3E1AC-5AA8-D37B-2C8D-7C3113FD8C34}"/>
              </a:ext>
            </a:extLst>
          </p:cNvPr>
          <p:cNvSpPr/>
          <p:nvPr/>
        </p:nvSpPr>
        <p:spPr>
          <a:xfrm>
            <a:off x="4956514" y="3567638"/>
            <a:ext cx="15626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Upload Clean PostgreSQL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create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</a:t>
            </a:r>
            <a:endParaRPr lang="en-US" sz="14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BB07993-225F-7ACD-D3EB-46899C3F9153}"/>
              </a:ext>
            </a:extLst>
          </p:cNvPr>
          <p:cNvGrpSpPr/>
          <p:nvPr/>
        </p:nvGrpSpPr>
        <p:grpSpPr>
          <a:xfrm>
            <a:off x="808029" y="2185667"/>
            <a:ext cx="10446940" cy="1636609"/>
            <a:chOff x="186203" y="2496479"/>
            <a:chExt cx="10446940" cy="1636609"/>
          </a:xfrm>
        </p:grpSpPr>
        <p:sp>
          <p:nvSpPr>
            <p:cNvPr id="5" name="Shape 3"/>
            <p:cNvSpPr/>
            <p:nvPr/>
          </p:nvSpPr>
          <p:spPr>
            <a:xfrm>
              <a:off x="186203" y="2706267"/>
              <a:ext cx="966117" cy="966117"/>
            </a:xfrm>
            <a:prstGeom prst="ellipse">
              <a:avLst/>
            </a:prstGeom>
            <a:solidFill>
              <a:srgbClr val="16213A"/>
            </a:solidFill>
            <a:ln w="15875">
              <a:solidFill>
                <a:srgbClr val="5EEAD4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35000"/>
                </a:srgbClr>
              </a:outerShdw>
            </a:effectLst>
          </p:spPr>
        </p:sp>
        <p:pic>
          <p:nvPicPr>
            <p:cNvPr id="6" name="Image 0" descr="assets/icons/databas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7732" y="2872969"/>
              <a:ext cx="483058" cy="483058"/>
            </a:xfrm>
            <a:prstGeom prst="rect">
              <a:avLst/>
            </a:prstGeom>
          </p:spPr>
        </p:pic>
        <p:sp>
          <p:nvSpPr>
            <p:cNvPr id="7" name="Shape 4"/>
            <p:cNvSpPr/>
            <p:nvPr/>
          </p:nvSpPr>
          <p:spPr>
            <a:xfrm>
              <a:off x="862485" y="2554150"/>
              <a:ext cx="289835" cy="289835"/>
            </a:xfrm>
            <a:prstGeom prst="ellipse">
              <a:avLst/>
            </a:prstGeom>
            <a:solidFill>
              <a:srgbClr val="FBBF24"/>
            </a:solidFill>
            <a:ln/>
          </p:spPr>
        </p:sp>
        <p:sp>
          <p:nvSpPr>
            <p:cNvPr id="8" name="Text 5"/>
            <p:cNvSpPr/>
            <p:nvPr/>
          </p:nvSpPr>
          <p:spPr>
            <a:xfrm>
              <a:off x="862485" y="2554150"/>
              <a:ext cx="289835" cy="2898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2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400" dirty="0"/>
            </a:p>
          </p:txBody>
        </p:sp>
        <p:pic>
          <p:nvPicPr>
            <p:cNvPr id="10" name="Image 1" descr="assets/icons/arrowrigh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7576" y="2985682"/>
              <a:ext cx="257631" cy="257631"/>
            </a:xfrm>
            <a:prstGeom prst="rect">
              <a:avLst/>
            </a:prstGeom>
          </p:spPr>
        </p:pic>
        <p:sp>
          <p:nvSpPr>
            <p:cNvPr id="11" name="Shape 7"/>
            <p:cNvSpPr/>
            <p:nvPr/>
          </p:nvSpPr>
          <p:spPr>
            <a:xfrm>
              <a:off x="1680464" y="2631439"/>
              <a:ext cx="966117" cy="966117"/>
            </a:xfrm>
            <a:prstGeom prst="ellipse">
              <a:avLst/>
            </a:prstGeom>
            <a:solidFill>
              <a:srgbClr val="16213A"/>
            </a:solidFill>
            <a:ln w="15875">
              <a:solidFill>
                <a:srgbClr val="5EEAD4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35000"/>
                </a:srgbClr>
              </a:outerShdw>
            </a:effectLst>
          </p:spPr>
        </p:sp>
        <p:pic>
          <p:nvPicPr>
            <p:cNvPr id="12" name="Image 2" descr="assets/icons/sitemap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21993" y="2872969"/>
              <a:ext cx="483058" cy="483058"/>
            </a:xfrm>
            <a:prstGeom prst="rect">
              <a:avLst/>
            </a:prstGeom>
          </p:spPr>
        </p:pic>
        <p:sp>
          <p:nvSpPr>
            <p:cNvPr id="13" name="Shape 8"/>
            <p:cNvSpPr/>
            <p:nvPr/>
          </p:nvSpPr>
          <p:spPr>
            <a:xfrm>
              <a:off x="2356745" y="2554150"/>
              <a:ext cx="289835" cy="289835"/>
            </a:xfrm>
            <a:prstGeom prst="ellipse">
              <a:avLst/>
            </a:prstGeom>
            <a:solidFill>
              <a:srgbClr val="FBBF24"/>
            </a:solidFill>
            <a:ln/>
          </p:spPr>
        </p:sp>
        <p:sp>
          <p:nvSpPr>
            <p:cNvPr id="14" name="Text 9"/>
            <p:cNvSpPr/>
            <p:nvPr/>
          </p:nvSpPr>
          <p:spPr>
            <a:xfrm>
              <a:off x="2356745" y="2554150"/>
              <a:ext cx="289835" cy="2898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2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/>
            </a:p>
          </p:txBody>
        </p:sp>
        <p:pic>
          <p:nvPicPr>
            <p:cNvPr id="16" name="Image 3" descr="assets/icons/arrowrigh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81837" y="2985682"/>
              <a:ext cx="257631" cy="257631"/>
            </a:xfrm>
            <a:prstGeom prst="rect">
              <a:avLst/>
            </a:prstGeom>
          </p:spPr>
        </p:pic>
        <p:sp>
          <p:nvSpPr>
            <p:cNvPr id="17" name="Shape 11"/>
            <p:cNvSpPr/>
            <p:nvPr/>
          </p:nvSpPr>
          <p:spPr>
            <a:xfrm>
              <a:off x="3104500" y="2604445"/>
              <a:ext cx="966117" cy="966117"/>
            </a:xfrm>
            <a:prstGeom prst="ellipse">
              <a:avLst/>
            </a:prstGeom>
            <a:solidFill>
              <a:srgbClr val="16213A"/>
            </a:solidFill>
            <a:ln w="15875">
              <a:solidFill>
                <a:srgbClr val="5EEAD4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35000"/>
                </a:srgbClr>
              </a:outerShdw>
            </a:effectLst>
          </p:spPr>
        </p:sp>
        <p:pic>
          <p:nvPicPr>
            <p:cNvPr id="18" name="Image 4" descr="assets/icons/broom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46029" y="2845975"/>
              <a:ext cx="483058" cy="483058"/>
            </a:xfrm>
            <a:prstGeom prst="rect">
              <a:avLst/>
            </a:prstGeom>
          </p:spPr>
        </p:pic>
        <p:sp>
          <p:nvSpPr>
            <p:cNvPr id="19" name="Shape 12"/>
            <p:cNvSpPr/>
            <p:nvPr/>
          </p:nvSpPr>
          <p:spPr>
            <a:xfrm>
              <a:off x="3780782" y="2527156"/>
              <a:ext cx="289835" cy="289835"/>
            </a:xfrm>
            <a:prstGeom prst="ellipse">
              <a:avLst/>
            </a:prstGeom>
            <a:solidFill>
              <a:srgbClr val="FBBF24"/>
            </a:solidFill>
            <a:ln/>
          </p:spPr>
        </p:sp>
        <p:sp>
          <p:nvSpPr>
            <p:cNvPr id="20" name="Text 13"/>
            <p:cNvSpPr/>
            <p:nvPr/>
          </p:nvSpPr>
          <p:spPr>
            <a:xfrm>
              <a:off x="3780782" y="2527156"/>
              <a:ext cx="289835" cy="2898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2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/>
            </a:p>
          </p:txBody>
        </p:sp>
        <p:pic>
          <p:nvPicPr>
            <p:cNvPr id="22" name="Image 5" descr="assets/icons/arrowrigh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05873" y="2958688"/>
              <a:ext cx="257631" cy="257631"/>
            </a:xfrm>
            <a:prstGeom prst="rect">
              <a:avLst/>
            </a:prstGeom>
          </p:spPr>
        </p:pic>
        <p:sp>
          <p:nvSpPr>
            <p:cNvPr id="23" name="Shape 15"/>
            <p:cNvSpPr/>
            <p:nvPr/>
          </p:nvSpPr>
          <p:spPr>
            <a:xfrm>
              <a:off x="6234238" y="2585198"/>
              <a:ext cx="966117" cy="966117"/>
            </a:xfrm>
            <a:prstGeom prst="ellipse">
              <a:avLst/>
            </a:prstGeom>
            <a:solidFill>
              <a:srgbClr val="16213A"/>
            </a:solidFill>
            <a:ln w="15875">
              <a:solidFill>
                <a:srgbClr val="5EEAD4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35000"/>
                </a:srgbClr>
              </a:outerShdw>
            </a:effectLst>
          </p:spPr>
        </p:sp>
        <p:pic>
          <p:nvPicPr>
            <p:cNvPr id="24" name="Image 6" descr="assets/icons/bullsey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75767" y="2826728"/>
              <a:ext cx="483058" cy="483058"/>
            </a:xfrm>
            <a:prstGeom prst="rect">
              <a:avLst/>
            </a:prstGeom>
          </p:spPr>
        </p:pic>
        <p:sp>
          <p:nvSpPr>
            <p:cNvPr id="25" name="Shape 16"/>
            <p:cNvSpPr/>
            <p:nvPr/>
          </p:nvSpPr>
          <p:spPr>
            <a:xfrm>
              <a:off x="6910519" y="2507909"/>
              <a:ext cx="289835" cy="289835"/>
            </a:xfrm>
            <a:prstGeom prst="ellipse">
              <a:avLst/>
            </a:prstGeom>
            <a:solidFill>
              <a:srgbClr val="FBBF24"/>
            </a:solidFill>
            <a:ln/>
          </p:spPr>
        </p:sp>
        <p:sp>
          <p:nvSpPr>
            <p:cNvPr id="26" name="Text 17"/>
            <p:cNvSpPr/>
            <p:nvPr/>
          </p:nvSpPr>
          <p:spPr>
            <a:xfrm>
              <a:off x="6910519" y="2507909"/>
              <a:ext cx="289835" cy="2898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2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400" dirty="0"/>
            </a:p>
          </p:txBody>
        </p:sp>
        <p:pic>
          <p:nvPicPr>
            <p:cNvPr id="28" name="Image 7" descr="assets/icons/arrowrigh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35611" y="2939441"/>
              <a:ext cx="257631" cy="257631"/>
            </a:xfrm>
            <a:prstGeom prst="rect">
              <a:avLst/>
            </a:prstGeom>
          </p:spPr>
        </p:pic>
        <p:sp>
          <p:nvSpPr>
            <p:cNvPr id="29" name="Shape 19"/>
            <p:cNvSpPr/>
            <p:nvPr/>
          </p:nvSpPr>
          <p:spPr>
            <a:xfrm>
              <a:off x="7728498" y="2585198"/>
              <a:ext cx="966117" cy="966117"/>
            </a:xfrm>
            <a:prstGeom prst="ellipse">
              <a:avLst/>
            </a:prstGeom>
            <a:solidFill>
              <a:srgbClr val="16213A"/>
            </a:solidFill>
            <a:ln w="15875">
              <a:solidFill>
                <a:srgbClr val="5EEAD4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35000"/>
                </a:srgbClr>
              </a:outerShdw>
            </a:effectLst>
          </p:spPr>
        </p:sp>
        <p:pic>
          <p:nvPicPr>
            <p:cNvPr id="30" name="Image 8" descr="assets/icons/chartpi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70027" y="2826728"/>
              <a:ext cx="483058" cy="483058"/>
            </a:xfrm>
            <a:prstGeom prst="rect">
              <a:avLst/>
            </a:prstGeom>
          </p:spPr>
        </p:pic>
        <p:sp>
          <p:nvSpPr>
            <p:cNvPr id="31" name="Shape 20"/>
            <p:cNvSpPr/>
            <p:nvPr/>
          </p:nvSpPr>
          <p:spPr>
            <a:xfrm>
              <a:off x="8404780" y="2507909"/>
              <a:ext cx="289835" cy="289835"/>
            </a:xfrm>
            <a:prstGeom prst="ellipse">
              <a:avLst/>
            </a:prstGeom>
            <a:solidFill>
              <a:srgbClr val="FBBF24"/>
            </a:solidFill>
            <a:ln/>
          </p:spPr>
        </p:sp>
        <p:sp>
          <p:nvSpPr>
            <p:cNvPr id="32" name="Text 21"/>
            <p:cNvSpPr/>
            <p:nvPr/>
          </p:nvSpPr>
          <p:spPr>
            <a:xfrm>
              <a:off x="8404780" y="2507909"/>
              <a:ext cx="289835" cy="2898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2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1400" dirty="0"/>
            </a:p>
          </p:txBody>
        </p: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5976140A-3A8C-7294-8911-D1819D71ABF8}"/>
                </a:ext>
              </a:extLst>
            </p:cNvPr>
            <p:cNvSpPr/>
            <p:nvPr/>
          </p:nvSpPr>
          <p:spPr>
            <a:xfrm>
              <a:off x="4598760" y="2577451"/>
              <a:ext cx="966117" cy="966117"/>
            </a:xfrm>
            <a:prstGeom prst="ellipse">
              <a:avLst/>
            </a:prstGeom>
            <a:solidFill>
              <a:srgbClr val="16213A"/>
            </a:solidFill>
            <a:ln w="15875">
              <a:solidFill>
                <a:srgbClr val="5EEAD4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35000"/>
                </a:srgbClr>
              </a:outerShdw>
            </a:effectLst>
          </p:spPr>
        </p:sp>
        <p:pic>
          <p:nvPicPr>
            <p:cNvPr id="41" name="Image 2" descr="assets/icons/sitemap.png">
              <a:extLst>
                <a:ext uri="{FF2B5EF4-FFF2-40B4-BE49-F238E27FC236}">
                  <a16:creationId xmlns:a16="http://schemas.microsoft.com/office/drawing/2014/main" id="{1E0DBBBC-EC99-5845-D21B-BBBF147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0289" y="2818981"/>
              <a:ext cx="483058" cy="483058"/>
            </a:xfrm>
            <a:prstGeom prst="rect">
              <a:avLst/>
            </a:prstGeom>
          </p:spPr>
        </p:pic>
        <p:sp>
          <p:nvSpPr>
            <p:cNvPr id="42" name="Shape 8">
              <a:extLst>
                <a:ext uri="{FF2B5EF4-FFF2-40B4-BE49-F238E27FC236}">
                  <a16:creationId xmlns:a16="http://schemas.microsoft.com/office/drawing/2014/main" id="{07FF40E4-A33E-FA02-055A-7E1151D8632D}"/>
                </a:ext>
              </a:extLst>
            </p:cNvPr>
            <p:cNvSpPr/>
            <p:nvPr/>
          </p:nvSpPr>
          <p:spPr>
            <a:xfrm>
              <a:off x="5275041" y="2500162"/>
              <a:ext cx="289835" cy="289835"/>
            </a:xfrm>
            <a:prstGeom prst="ellipse">
              <a:avLst/>
            </a:prstGeom>
            <a:solidFill>
              <a:srgbClr val="FBBF24"/>
            </a:solidFill>
            <a:ln/>
          </p:spPr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1EEB9382-C3EE-F6C1-B74E-6E7039109ADC}"/>
                </a:ext>
              </a:extLst>
            </p:cNvPr>
            <p:cNvSpPr/>
            <p:nvPr/>
          </p:nvSpPr>
          <p:spPr>
            <a:xfrm>
              <a:off x="5275041" y="2500162"/>
              <a:ext cx="289835" cy="2898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2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/>
            </a:p>
          </p:txBody>
        </p:sp>
        <p:pic>
          <p:nvPicPr>
            <p:cNvPr id="44" name="Image 3" descr="assets/icons/arrowright.png">
              <a:extLst>
                <a:ext uri="{FF2B5EF4-FFF2-40B4-BE49-F238E27FC236}">
                  <a16:creationId xmlns:a16="http://schemas.microsoft.com/office/drawing/2014/main" id="{3DDAD43B-70F9-C9FA-51E0-A3C009DA0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00133" y="2931694"/>
              <a:ext cx="257631" cy="257631"/>
            </a:xfrm>
            <a:prstGeom prst="rect">
              <a:avLst/>
            </a:prstGeom>
          </p:spPr>
        </p:pic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EAD6A4E-3845-D466-FAC0-88CA59615CFA}"/>
                </a:ext>
              </a:extLst>
            </p:cNvPr>
            <p:cNvGrpSpPr/>
            <p:nvPr/>
          </p:nvGrpSpPr>
          <p:grpSpPr>
            <a:xfrm>
              <a:off x="9302445" y="2587500"/>
              <a:ext cx="967562" cy="967562"/>
              <a:chOff x="9302445" y="2587500"/>
              <a:chExt cx="967562" cy="967562"/>
            </a:xfrm>
          </p:grpSpPr>
          <p:sp>
            <p:nvSpPr>
              <p:cNvPr id="47" name="Shape 3">
                <a:extLst>
                  <a:ext uri="{FF2B5EF4-FFF2-40B4-BE49-F238E27FC236}">
                    <a16:creationId xmlns:a16="http://schemas.microsoft.com/office/drawing/2014/main" id="{1345C6A8-83B3-A04C-E153-895EF1796B36}"/>
                  </a:ext>
                </a:extLst>
              </p:cNvPr>
              <p:cNvSpPr/>
              <p:nvPr/>
            </p:nvSpPr>
            <p:spPr>
              <a:xfrm>
                <a:off x="9302445" y="2587500"/>
                <a:ext cx="967562" cy="967562"/>
              </a:xfrm>
              <a:prstGeom prst="ellipse">
                <a:avLst/>
              </a:prstGeom>
              <a:solidFill>
                <a:srgbClr val="1C2B45"/>
              </a:solidFill>
              <a:ln w="12700">
                <a:solidFill>
                  <a:srgbClr val="5EEAD4"/>
                </a:solidFill>
                <a:prstDash val="solid"/>
              </a:ln>
            </p:spPr>
          </p:sp>
          <p:pic>
            <p:nvPicPr>
              <p:cNvPr id="48" name="Image 0" descr="assets/icons/search.png">
                <a:extLst>
                  <a:ext uri="{FF2B5EF4-FFF2-40B4-BE49-F238E27FC236}">
                    <a16:creationId xmlns:a16="http://schemas.microsoft.com/office/drawing/2014/main" id="{71BE15F1-FE07-2AD6-8456-4AE60BC95F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04753" y="2797744"/>
                <a:ext cx="562945" cy="562945"/>
              </a:xfrm>
              <a:prstGeom prst="rect">
                <a:avLst/>
              </a:prstGeom>
            </p:spPr>
          </p:pic>
        </p:grpSp>
        <p:sp>
          <p:nvSpPr>
            <p:cNvPr id="52" name="Shape 20">
              <a:extLst>
                <a:ext uri="{FF2B5EF4-FFF2-40B4-BE49-F238E27FC236}">
                  <a16:creationId xmlns:a16="http://schemas.microsoft.com/office/drawing/2014/main" id="{02A082EC-2562-E16B-8456-3E2912590C8B}"/>
                </a:ext>
              </a:extLst>
            </p:cNvPr>
            <p:cNvSpPr/>
            <p:nvPr/>
          </p:nvSpPr>
          <p:spPr>
            <a:xfrm>
              <a:off x="9947295" y="2511162"/>
              <a:ext cx="289835" cy="289835"/>
            </a:xfrm>
            <a:prstGeom prst="ellipse">
              <a:avLst/>
            </a:prstGeom>
            <a:solidFill>
              <a:srgbClr val="FBBF24"/>
            </a:solidFill>
            <a:ln/>
          </p:spPr>
        </p:sp>
        <p:sp>
          <p:nvSpPr>
            <p:cNvPr id="53" name="Text 21">
              <a:extLst>
                <a:ext uri="{FF2B5EF4-FFF2-40B4-BE49-F238E27FC236}">
                  <a16:creationId xmlns:a16="http://schemas.microsoft.com/office/drawing/2014/main" id="{A1214DFF-2669-8079-9FAF-0DE11C69E241}"/>
                </a:ext>
              </a:extLst>
            </p:cNvPr>
            <p:cNvSpPr/>
            <p:nvPr/>
          </p:nvSpPr>
          <p:spPr>
            <a:xfrm>
              <a:off x="9931142" y="2496479"/>
              <a:ext cx="289835" cy="2898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2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</a:t>
              </a:r>
              <a:endParaRPr lang="en-US" sz="1400" dirty="0"/>
            </a:p>
          </p:txBody>
        </p:sp>
        <p:pic>
          <p:nvPicPr>
            <p:cNvPr id="54" name="Image 7" descr="assets/icons/arrowright.png">
              <a:extLst>
                <a:ext uri="{FF2B5EF4-FFF2-40B4-BE49-F238E27FC236}">
                  <a16:creationId xmlns:a16="http://schemas.microsoft.com/office/drawing/2014/main" id="{2E2A2B3D-8859-CD37-97D7-28319D15D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96923" y="2931694"/>
              <a:ext cx="257631" cy="257631"/>
            </a:xfrm>
            <a:prstGeom prst="rect">
              <a:avLst/>
            </a:prstGeom>
          </p:spPr>
        </p:pic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4D2EA86C-4885-BC3E-82E8-EE323C784651}"/>
                </a:ext>
              </a:extLst>
            </p:cNvPr>
            <p:cNvSpPr/>
            <p:nvPr/>
          </p:nvSpPr>
          <p:spPr>
            <a:xfrm>
              <a:off x="9090025" y="3851413"/>
              <a:ext cx="1543118" cy="281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400" b="1" dirty="0">
                  <a:solidFill>
                    <a:srgbClr val="F1F5F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Insights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5701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Linked Tables, One Story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77221"/>
            <a:ext cx="11224260" cy="68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synthetic dataset simulating </a:t>
            </a:r>
            <a:r>
              <a:rPr lang="en-US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Rokomari</a:t>
            </a: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 Shop's operations across Bangladesh. The data is intentionally injected with anomalies—such as missing values, invalid entries, duplicate records, and inconsistent formatting—to test data-cleaning workflows.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51914" cy="416052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5977" y="2423160"/>
            <a:ext cx="777240" cy="777240"/>
          </a:xfrm>
          <a:prstGeom prst="ellipse">
            <a:avLst/>
          </a:prstGeom>
          <a:solidFill>
            <a:srgbClr val="E0F7F4"/>
          </a:solidFill>
          <a:ln/>
        </p:spPr>
      </p:sp>
      <p:pic>
        <p:nvPicPr>
          <p:cNvPr id="7" name="Image 0" descr="assets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857" y="26060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337560"/>
            <a:ext cx="1832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58368" y="3794760"/>
            <a:ext cx="1832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records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251960"/>
            <a:ext cx="150327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4389120"/>
            <a:ext cx="172273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loyalty score, signup date, reader group etc.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801722" y="2103120"/>
            <a:ext cx="2051914" cy="416052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39058" y="2423160"/>
            <a:ext cx="777240" cy="777240"/>
          </a:xfrm>
          <a:prstGeom prst="ellipse">
            <a:avLst/>
          </a:prstGeom>
          <a:solidFill>
            <a:srgbClr val="E0F7F4"/>
          </a:solidFill>
          <a:ln/>
        </p:spPr>
      </p:sp>
      <p:pic>
        <p:nvPicPr>
          <p:cNvPr id="14" name="Image 1" descr="assets/icon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938" y="26060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11450" y="3337560"/>
            <a:ext cx="1832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 (Products)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2911450" y="3794760"/>
            <a:ext cx="1832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records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076042" y="4251960"/>
            <a:ext cx="150327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66314" y="4389120"/>
            <a:ext cx="172273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author, price, format, page count etc.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054803" y="2103120"/>
            <a:ext cx="2051914" cy="416052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692140" y="2423160"/>
            <a:ext cx="777240" cy="777240"/>
          </a:xfrm>
          <a:prstGeom prst="ellipse">
            <a:avLst/>
          </a:prstGeom>
          <a:solidFill>
            <a:srgbClr val="E0F7F4"/>
          </a:solidFill>
          <a:ln/>
        </p:spPr>
      </p:sp>
      <p:pic>
        <p:nvPicPr>
          <p:cNvPr id="21" name="Image 2" descr="assets/icons/st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020" y="260604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64531" y="3337560"/>
            <a:ext cx="1832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Stores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5164531" y="3794760"/>
            <a:ext cx="1832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records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329123" y="4251960"/>
            <a:ext cx="150327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234635" y="4251960"/>
            <a:ext cx="172273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store type, floor area, rating etc.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7307885" y="2103120"/>
            <a:ext cx="2051914" cy="416052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945222" y="2423160"/>
            <a:ext cx="777240" cy="777240"/>
          </a:xfrm>
          <a:prstGeom prst="ellipse">
            <a:avLst/>
          </a:prstGeom>
          <a:solidFill>
            <a:srgbClr val="E0F7F4"/>
          </a:solidFill>
          <a:ln/>
        </p:spPr>
      </p:sp>
      <p:pic>
        <p:nvPicPr>
          <p:cNvPr id="28" name="Image 3" descr="assets/icons/tru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102" y="260604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17613" y="3337560"/>
            <a:ext cx="1832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Suppliers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7417613" y="3794760"/>
            <a:ext cx="1832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records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7582205" y="4251960"/>
            <a:ext cx="150327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472477" y="4389120"/>
            <a:ext cx="172273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delivery time, contract, status etc.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9560966" y="2103120"/>
            <a:ext cx="2051914" cy="416052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0198303" y="2423160"/>
            <a:ext cx="777240" cy="777240"/>
          </a:xfrm>
          <a:prstGeom prst="ellipse">
            <a:avLst/>
          </a:prstGeom>
          <a:solidFill>
            <a:srgbClr val="E0F7F4"/>
          </a:solidFill>
          <a:ln/>
        </p:spPr>
      </p:sp>
      <p:pic>
        <p:nvPicPr>
          <p:cNvPr id="35" name="Image 4" descr="assets/icons/c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1183" y="2606040"/>
            <a:ext cx="411480" cy="4114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70694" y="3337560"/>
            <a:ext cx="1832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(Fact)</a:t>
            </a:r>
            <a:endParaRPr lang="en-US" sz="1550" dirty="0"/>
          </a:p>
        </p:txBody>
      </p:sp>
      <p:sp>
        <p:nvSpPr>
          <p:cNvPr id="37" name="Text 30"/>
          <p:cNvSpPr/>
          <p:nvPr/>
        </p:nvSpPr>
        <p:spPr>
          <a:xfrm>
            <a:off x="9670694" y="3794760"/>
            <a:ext cx="1832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records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9835286" y="4251960"/>
            <a:ext cx="150327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9720450" y="4366262"/>
            <a:ext cx="1722730" cy="178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date, unit price total amount payment method reader group etc. Links all 4 tables via foreign keys.</a:t>
            </a:r>
            <a:endParaRPr lang="en-US" sz="1600" dirty="0"/>
          </a:p>
        </p:txBody>
      </p:sp>
      <p:sp>
        <p:nvSpPr>
          <p:cNvPr id="40" name="Text 33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BEHAVIOR &amp; SALES ANALYTICS  •  ROKOMARI BOOK SHOP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database creation</a:t>
            </a:r>
            <a:endParaRPr lang="en-US" sz="32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9180AC-530A-45D1-DC22-F8F8EC40D11F}"/>
              </a:ext>
            </a:extLst>
          </p:cNvPr>
          <p:cNvGrpSpPr/>
          <p:nvPr/>
        </p:nvGrpSpPr>
        <p:grpSpPr>
          <a:xfrm>
            <a:off x="548640" y="1508760"/>
            <a:ext cx="6541790" cy="1801368"/>
            <a:chOff x="548640" y="1508760"/>
            <a:chExt cx="8301764" cy="2286000"/>
          </a:xfrm>
        </p:grpSpPr>
        <p:sp>
          <p:nvSpPr>
            <p:cNvPr id="4" name="Shape 2"/>
            <p:cNvSpPr/>
            <p:nvPr/>
          </p:nvSpPr>
          <p:spPr>
            <a:xfrm>
              <a:off x="548640" y="1508760"/>
              <a:ext cx="2615184" cy="2286000"/>
            </a:xfrm>
            <a:prstGeom prst="roundRect">
              <a:avLst>
                <a:gd name="adj" fmla="val 3200"/>
              </a:avLst>
            </a:prstGeom>
            <a:gradFill flip="none" rotWithShape="1">
              <a:gsLst>
                <a:gs pos="0">
                  <a:srgbClr val="3399FF">
                    <a:shade val="30000"/>
                    <a:satMod val="115000"/>
                  </a:srgbClr>
                </a:gs>
                <a:gs pos="50000">
                  <a:srgbClr val="3399FF">
                    <a:shade val="67500"/>
                    <a:satMod val="115000"/>
                  </a:srgbClr>
                </a:gs>
                <a:gs pos="100000">
                  <a:srgbClr val="3399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/>
            <a:effectLst>
              <a:outerShdw blurRad="101600" dist="38100" dir="27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777240" y="1737360"/>
              <a:ext cx="640080" cy="640080"/>
            </a:xfrm>
            <a:prstGeom prst="ellipse">
              <a:avLst/>
            </a:prstGeom>
            <a:solidFill>
              <a:srgbClr val="1C2B45"/>
            </a:solidFill>
            <a:ln w="12700">
              <a:solidFill>
                <a:srgbClr val="5EEAD4"/>
              </a:solidFill>
              <a:prstDash val="solid"/>
            </a:ln>
          </p:spPr>
        </p:sp>
        <p:pic>
          <p:nvPicPr>
            <p:cNvPr id="6" name="Image 0" descr="assets/icons/tabl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1874520"/>
              <a:ext cx="365760" cy="365760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777240" y="2423160"/>
              <a:ext cx="215798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EEAD4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  Create Tables</a:t>
              </a:r>
              <a:endParaRPr lang="en-US" sz="1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777240" y="2834640"/>
              <a:ext cx="224354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200" dirty="0">
                  <a:solidFill>
                    <a:srgbClr val="F1F5F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4-dimension tables and 1 fact table (</a:t>
              </a:r>
              <a:r>
                <a:rPr lang="en-US" sz="1200" dirty="0" err="1">
                  <a:solidFill>
                    <a:srgbClr val="F1F5F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fact_sales</a:t>
              </a:r>
              <a:r>
                <a:rPr lang="en-US" sz="1200" dirty="0">
                  <a:solidFill>
                    <a:srgbClr val="F1F5F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 with PK and FK constraints.</a:t>
              </a:r>
              <a:endParaRPr lang="en-US" sz="120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3364992" y="1508760"/>
              <a:ext cx="2615184" cy="2286000"/>
            </a:xfrm>
            <a:prstGeom prst="roundRect">
              <a:avLst>
                <a:gd name="adj" fmla="val 3200"/>
              </a:avLst>
            </a:prstGeom>
            <a:gradFill flip="none" rotWithShape="1">
              <a:gsLst>
                <a:gs pos="0">
                  <a:srgbClr val="3399FF">
                    <a:shade val="30000"/>
                    <a:satMod val="115000"/>
                  </a:srgbClr>
                </a:gs>
                <a:gs pos="50000">
                  <a:srgbClr val="3399FF">
                    <a:shade val="67500"/>
                    <a:satMod val="115000"/>
                  </a:srgbClr>
                </a:gs>
                <a:gs pos="100000">
                  <a:srgbClr val="3399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/>
            <a:effectLst>
              <a:outerShdw blurRad="101600" dist="38100" dir="27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0" name="Shape 7"/>
            <p:cNvSpPr/>
            <p:nvPr/>
          </p:nvSpPr>
          <p:spPr>
            <a:xfrm>
              <a:off x="3593592" y="1737360"/>
              <a:ext cx="640080" cy="640080"/>
            </a:xfrm>
            <a:prstGeom prst="ellipse">
              <a:avLst/>
            </a:prstGeom>
            <a:solidFill>
              <a:srgbClr val="1C2B45"/>
            </a:solidFill>
            <a:ln w="12700">
              <a:solidFill>
                <a:srgbClr val="5EEAD4"/>
              </a:solidFill>
              <a:prstDash val="solid"/>
            </a:ln>
          </p:spPr>
        </p:sp>
        <p:pic>
          <p:nvPicPr>
            <p:cNvPr id="11" name="Image 1" descr="assets/icons/uploa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30752" y="1874520"/>
              <a:ext cx="365760" cy="365760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3593592" y="2528293"/>
              <a:ext cx="2157983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EEAD4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  Bulk Load via COPY</a:t>
              </a:r>
              <a:endParaRPr lang="en-US" sz="12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3593592" y="2834640"/>
              <a:ext cx="215798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200" dirty="0">
                  <a:solidFill>
                    <a:srgbClr val="F1F5F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Import cleaned CSVs with COPY SQL query.</a:t>
              </a:r>
              <a:endParaRPr lang="en-US" sz="120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6181344" y="1508760"/>
              <a:ext cx="2615184" cy="2286000"/>
            </a:xfrm>
            <a:prstGeom prst="roundRect">
              <a:avLst>
                <a:gd name="adj" fmla="val 3200"/>
              </a:avLst>
            </a:prstGeom>
            <a:gradFill flip="none" rotWithShape="1">
              <a:gsLst>
                <a:gs pos="0">
                  <a:srgbClr val="3399FF">
                    <a:shade val="30000"/>
                    <a:satMod val="115000"/>
                  </a:srgbClr>
                </a:gs>
                <a:gs pos="50000">
                  <a:srgbClr val="3399FF">
                    <a:shade val="67500"/>
                    <a:satMod val="115000"/>
                  </a:srgbClr>
                </a:gs>
                <a:gs pos="100000">
                  <a:srgbClr val="3399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/>
            <a:effectLst>
              <a:outerShdw blurRad="101600" dist="38100" dir="27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Shape 11"/>
            <p:cNvSpPr/>
            <p:nvPr/>
          </p:nvSpPr>
          <p:spPr>
            <a:xfrm>
              <a:off x="6409944" y="1737360"/>
              <a:ext cx="640080" cy="640080"/>
            </a:xfrm>
            <a:prstGeom prst="ellipse">
              <a:avLst/>
            </a:prstGeom>
            <a:solidFill>
              <a:srgbClr val="1C2B45"/>
            </a:solidFill>
            <a:ln w="12700">
              <a:solidFill>
                <a:srgbClr val="5EEAD4"/>
              </a:solidFill>
              <a:prstDash val="solid"/>
            </a:ln>
          </p:spPr>
        </p:sp>
        <p:pic>
          <p:nvPicPr>
            <p:cNvPr id="16" name="Image 2" descr="assets/icons/chec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47104" y="1874520"/>
              <a:ext cx="365760" cy="365760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6463820" y="2527812"/>
              <a:ext cx="238658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EEAD4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  Validate Relationships</a:t>
              </a:r>
              <a:endParaRPr lang="en-US" sz="12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6409944" y="2834640"/>
              <a:ext cx="215798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200" dirty="0">
                  <a:solidFill>
                    <a:srgbClr val="F1F5F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Confirm row counts &amp; FK joins across all 5 tables.</a:t>
              </a:r>
              <a:endParaRPr lang="en-US" sz="1200" dirty="0"/>
            </a:p>
          </p:txBody>
        </p:sp>
      </p:grpSp>
      <p:sp>
        <p:nvSpPr>
          <p:cNvPr id="24" name="Shape 18"/>
          <p:cNvSpPr/>
          <p:nvPr/>
        </p:nvSpPr>
        <p:spPr>
          <a:xfrm>
            <a:off x="7270567" y="215016"/>
            <a:ext cx="4658259" cy="6118168"/>
          </a:xfrm>
          <a:prstGeom prst="roundRect">
            <a:avLst>
              <a:gd name="adj" fmla="val 3137"/>
            </a:avLst>
          </a:prstGeom>
          <a:ln w="12700">
            <a:solidFill>
              <a:srgbClr val="1C2B45"/>
            </a:solidFill>
            <a:prstDash val="solid"/>
          </a:ln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b="1" kern="0" spc="200" dirty="0">
                <a:solidFill>
                  <a:srgbClr val="FBBF24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b="1" kern="0" spc="200" dirty="0" err="1">
                <a:solidFill>
                  <a:srgbClr val="FBBF24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fact_sales</a:t>
            </a:r>
            <a:r>
              <a:rPr lang="en-US" b="1" kern="0" spc="200" dirty="0">
                <a:solidFill>
                  <a:srgbClr val="FBBF24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— CREATE TABLE </a:t>
            </a:r>
            <a:endParaRPr lang="en-US" b="1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8315463" y="346820"/>
            <a:ext cx="3297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519307" y="713884"/>
            <a:ext cx="4273711" cy="5360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fact_sales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sales_id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VARCHAR(20) PRIMARY KEY,</a:t>
            </a:r>
          </a:p>
          <a:p>
            <a:pPr marL="0" indent="0">
              <a:lnSpc>
                <a:spcPct val="105000"/>
              </a:lnSpc>
              <a:buNone/>
            </a:pPr>
            <a:endParaRPr lang="en-US" sz="900" dirty="0">
              <a:solidFill>
                <a:srgbClr val="C6F6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supplier_id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VARCHAR(20),   </a:t>
            </a:r>
          </a:p>
          <a:p>
            <a:pPr marL="0" indent="0">
              <a:lnSpc>
                <a:spcPct val="105000"/>
              </a:lnSpc>
              <a:buNone/>
            </a:pPr>
            <a:endParaRPr lang="en-US" sz="900" dirty="0">
              <a:solidFill>
                <a:srgbClr val="C6F6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VARCHAR(20),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VARCHAR(20),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store_id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VARCHAR(20),</a:t>
            </a:r>
          </a:p>
          <a:p>
            <a:pPr marL="0" indent="0">
              <a:lnSpc>
                <a:spcPct val="105000"/>
              </a:lnSpc>
              <a:buNone/>
            </a:pPr>
            <a:endParaRPr lang="en-US" sz="900" dirty="0">
              <a:solidFill>
                <a:srgbClr val="C6F6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sales_date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quantity INT,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unit_price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NUMERIC(10,2),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discount NUMERIC(5,2),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NUMERIC(12,2),</a:t>
            </a:r>
          </a:p>
          <a:p>
            <a:pPr marL="0" indent="0">
              <a:lnSpc>
                <a:spcPct val="105000"/>
              </a:lnSpc>
              <a:buNone/>
            </a:pPr>
            <a:endParaRPr lang="en-US" sz="900" dirty="0">
              <a:solidFill>
                <a:srgbClr val="C6F6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payment_method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sales_channel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reader_group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 TEXT,</a:t>
            </a:r>
          </a:p>
          <a:p>
            <a:pPr marL="0" indent="0">
              <a:lnSpc>
                <a:spcPct val="105000"/>
              </a:lnSpc>
              <a:buNone/>
            </a:pPr>
            <a:endParaRPr lang="en-US" sz="900" dirty="0">
              <a:solidFill>
                <a:srgbClr val="C6F6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fk_supplier</a:t>
            </a:r>
            <a:endParaRPr lang="en-US" sz="900" dirty="0">
              <a:solidFill>
                <a:srgbClr val="C6F6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FOREIGN KEY (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supplier_id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REFERENCES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dim_supplier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supplier_id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</a:p>
          <a:p>
            <a:pPr marL="0" indent="0">
              <a:lnSpc>
                <a:spcPct val="105000"/>
              </a:lnSpc>
              <a:buNone/>
            </a:pPr>
            <a:endParaRPr lang="en-US" sz="900" dirty="0">
              <a:solidFill>
                <a:srgbClr val="C6F6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fk_customer</a:t>
            </a:r>
            <a:endParaRPr lang="en-US" sz="900" dirty="0">
              <a:solidFill>
                <a:srgbClr val="C6F6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FOREIGN KEY (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REFERENCES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</a:p>
          <a:p>
            <a:pPr marL="0" indent="0">
              <a:lnSpc>
                <a:spcPct val="105000"/>
              </a:lnSpc>
              <a:buNone/>
            </a:pPr>
            <a:endParaRPr lang="en-US" sz="900" dirty="0">
              <a:solidFill>
                <a:srgbClr val="C6F6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fk_product</a:t>
            </a:r>
            <a:endParaRPr lang="en-US" sz="900" dirty="0">
              <a:solidFill>
                <a:srgbClr val="C6F6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FOREIGN KEY (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REFERENCES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dim_product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</a:p>
          <a:p>
            <a:pPr marL="0" indent="0">
              <a:lnSpc>
                <a:spcPct val="105000"/>
              </a:lnSpc>
              <a:buNone/>
            </a:pPr>
            <a:endParaRPr lang="en-US" sz="900" dirty="0">
              <a:solidFill>
                <a:srgbClr val="C6F6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fk_store</a:t>
            </a:r>
            <a:endParaRPr lang="en-US" sz="900" dirty="0">
              <a:solidFill>
                <a:srgbClr val="C6F6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FOREIGN KEY (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store_id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REFERENCES 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dim_store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 err="1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store_id</a:t>
            </a: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BEHAVIOR &amp; SALES ANALYTICS  •  ROKOMARI BOOK SHOP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6E84B12-56D1-F1DA-5154-84FD52AB0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39" y="3515500"/>
            <a:ext cx="6434051" cy="28745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47960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46120" cy="4892040"/>
          </a:xfrm>
          <a:prstGeom prst="roundRect">
            <a:avLst>
              <a:gd name="adj" fmla="val 2254"/>
            </a:avLst>
          </a:prstGeom>
          <a:solidFill>
            <a:srgbClr val="16213A"/>
          </a:solidFill>
          <a:ln/>
        </p:spPr>
      </p:sp>
      <p:sp>
        <p:nvSpPr>
          <p:cNvPr id="5" name="Text 3"/>
          <p:cNvSpPr/>
          <p:nvPr/>
        </p:nvSpPr>
        <p:spPr>
          <a:xfrm>
            <a:off x="106299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Highlights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4380" y="1902278"/>
            <a:ext cx="2834640" cy="4392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 is the analytical core — quantity, price, discount, total amount, sales channel, reader group etc.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dimensions: dim_customer, dim_product, dim_store, </a:t>
            </a:r>
            <a:r>
              <a:rPr lang="en-US" sz="16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dim_supplier</a:t>
            </a: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CSV dataset into the PostgreSQL database </a:t>
            </a:r>
            <a:r>
              <a:rPr lang="en-US" sz="16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tables.Referential</a:t>
            </a: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integrity enforced via foreign-key constraints</a:t>
            </a:r>
            <a:endParaRPr lang="en-US" sz="1600" dirty="0"/>
          </a:p>
        </p:txBody>
      </p:sp>
      <p:pic>
        <p:nvPicPr>
          <p:cNvPr id="8" name="Image 0" descr="assets/erd.png"/>
          <p:cNvPicPr>
            <a:picLocks noChangeAspect="1"/>
          </p:cNvPicPr>
          <p:nvPr/>
        </p:nvPicPr>
        <p:blipFill rotWithShape="1">
          <a:blip r:embed="rId3"/>
          <a:srcRect r="26905" b="4682"/>
          <a:stretch/>
        </p:blipFill>
        <p:spPr>
          <a:xfrm>
            <a:off x="5344732" y="167426"/>
            <a:ext cx="6671257" cy="623337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6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9" name="Text 6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BEHAVIOR &amp; SALES ANALYTICS  •  ROKOMARI BOOK SHOP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Six-Step Cleaning Pipeline in Jupiter Notebook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706880" cy="1417320"/>
          </a:xfrm>
          <a:prstGeom prst="roundRect">
            <a:avLst>
              <a:gd name="adj" fmla="val 5161"/>
            </a:avLst>
          </a:prstGeom>
          <a:solidFill>
            <a:srgbClr val="16213A"/>
          </a:solidFill>
          <a:ln/>
        </p:spPr>
      </p:sp>
      <p:sp>
        <p:nvSpPr>
          <p:cNvPr id="5" name="Shape 3"/>
          <p:cNvSpPr/>
          <p:nvPr/>
        </p:nvSpPr>
        <p:spPr>
          <a:xfrm>
            <a:off x="1150620" y="1581912"/>
            <a:ext cx="502920" cy="502920"/>
          </a:xfrm>
          <a:prstGeom prst="ellipse">
            <a:avLst/>
          </a:prstGeom>
          <a:solidFill>
            <a:srgbClr val="1C2B45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6" name="Image 0" descr="assets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776" y="16870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148840"/>
            <a:ext cx="161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Missing Value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20112" y="1463040"/>
            <a:ext cx="1706880" cy="1417320"/>
          </a:xfrm>
          <a:prstGeom prst="roundRect">
            <a:avLst>
              <a:gd name="adj" fmla="val 5161"/>
            </a:avLst>
          </a:prstGeom>
          <a:solidFill>
            <a:srgbClr val="16213A"/>
          </a:solidFill>
          <a:ln/>
        </p:spPr>
      </p:sp>
      <p:sp>
        <p:nvSpPr>
          <p:cNvPr id="9" name="Shape 6"/>
          <p:cNvSpPr/>
          <p:nvPr/>
        </p:nvSpPr>
        <p:spPr>
          <a:xfrm>
            <a:off x="3022092" y="1581912"/>
            <a:ext cx="502920" cy="502920"/>
          </a:xfrm>
          <a:prstGeom prst="ellipse">
            <a:avLst/>
          </a:prstGeom>
          <a:solidFill>
            <a:srgbClr val="1C2B45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0" name="Image 1" descr="assets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168706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65832" y="2148840"/>
            <a:ext cx="161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Invalid Value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91584" y="1463040"/>
            <a:ext cx="1706880" cy="1417320"/>
          </a:xfrm>
          <a:prstGeom prst="roundRect">
            <a:avLst>
              <a:gd name="adj" fmla="val 5161"/>
            </a:avLst>
          </a:prstGeom>
          <a:solidFill>
            <a:srgbClr val="16213A"/>
          </a:solidFill>
          <a:ln/>
        </p:spPr>
      </p:sp>
      <p:sp>
        <p:nvSpPr>
          <p:cNvPr id="13" name="Shape 9"/>
          <p:cNvSpPr/>
          <p:nvPr/>
        </p:nvSpPr>
        <p:spPr>
          <a:xfrm>
            <a:off x="4893564" y="1581912"/>
            <a:ext cx="502920" cy="502920"/>
          </a:xfrm>
          <a:prstGeom prst="ellipse">
            <a:avLst/>
          </a:prstGeom>
          <a:solidFill>
            <a:srgbClr val="1C2B45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4" name="Image 2" descr="assets/icons/f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8720" y="168706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37304" y="2148840"/>
            <a:ext cx="161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Text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63056" y="1463040"/>
            <a:ext cx="1706880" cy="1417320"/>
          </a:xfrm>
          <a:prstGeom prst="roundRect">
            <a:avLst>
              <a:gd name="adj" fmla="val 5161"/>
            </a:avLst>
          </a:prstGeom>
          <a:solidFill>
            <a:srgbClr val="16213A"/>
          </a:solidFill>
          <a:ln/>
        </p:spPr>
      </p:sp>
      <p:sp>
        <p:nvSpPr>
          <p:cNvPr id="17" name="Shape 12"/>
          <p:cNvSpPr/>
          <p:nvPr/>
        </p:nvSpPr>
        <p:spPr>
          <a:xfrm>
            <a:off x="6765036" y="1581912"/>
            <a:ext cx="502920" cy="502920"/>
          </a:xfrm>
          <a:prstGeom prst="ellipse">
            <a:avLst/>
          </a:prstGeom>
          <a:solidFill>
            <a:srgbClr val="1C2B45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8" name="Image 3" descr="assets/icons/mag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0192" y="168706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08776" y="2148840"/>
            <a:ext cx="161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KNN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34528" y="1463040"/>
            <a:ext cx="1706880" cy="1417320"/>
          </a:xfrm>
          <a:prstGeom prst="roundRect">
            <a:avLst>
              <a:gd name="adj" fmla="val 5161"/>
            </a:avLst>
          </a:prstGeom>
          <a:solidFill>
            <a:srgbClr val="16213A"/>
          </a:solidFill>
          <a:ln/>
        </p:spPr>
      </p:sp>
      <p:sp>
        <p:nvSpPr>
          <p:cNvPr id="21" name="Shape 15"/>
          <p:cNvSpPr/>
          <p:nvPr/>
        </p:nvSpPr>
        <p:spPr>
          <a:xfrm>
            <a:off x="8636508" y="1581912"/>
            <a:ext cx="502920" cy="502920"/>
          </a:xfrm>
          <a:prstGeom prst="ellipse">
            <a:avLst/>
          </a:prstGeom>
          <a:solidFill>
            <a:srgbClr val="1C2B45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22" name="Image 4" descr="assets/icons/compre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664" y="168706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80248" y="2148840"/>
            <a:ext cx="161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Outlier Capping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(IQR)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9906000" y="1463040"/>
            <a:ext cx="1706880" cy="1417320"/>
          </a:xfrm>
          <a:prstGeom prst="roundRect">
            <a:avLst>
              <a:gd name="adj" fmla="val 5161"/>
            </a:avLst>
          </a:prstGeom>
          <a:solidFill>
            <a:srgbClr val="16213A"/>
          </a:solidFill>
          <a:ln/>
        </p:spPr>
      </p:sp>
      <p:sp>
        <p:nvSpPr>
          <p:cNvPr id="25" name="Shape 18"/>
          <p:cNvSpPr/>
          <p:nvPr/>
        </p:nvSpPr>
        <p:spPr>
          <a:xfrm>
            <a:off x="10507980" y="1581912"/>
            <a:ext cx="502920" cy="502920"/>
          </a:xfrm>
          <a:prstGeom prst="ellipse">
            <a:avLst/>
          </a:prstGeom>
          <a:solidFill>
            <a:srgbClr val="1C2B45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26" name="Image 5" descr="assets/icons/tras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3136" y="1687068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951720" y="2148840"/>
            <a:ext cx="161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Duplicate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183630" y="3181826"/>
            <a:ext cx="4205716" cy="3173253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-402539" y="3229238"/>
            <a:ext cx="4834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Missing Value Map (Customers)</a:t>
            </a:r>
            <a:endParaRPr lang="en-US" sz="1150" dirty="0"/>
          </a:p>
        </p:txBody>
      </p:sp>
      <p:pic>
        <p:nvPicPr>
          <p:cNvPr id="30" name="Image 6" descr="assets/missing_valu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927" y="3530704"/>
            <a:ext cx="4007186" cy="2624043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8416498" y="3171321"/>
            <a:ext cx="3647798" cy="3173253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23"/>
          <p:cNvSpPr/>
          <p:nvPr/>
        </p:nvSpPr>
        <p:spPr>
          <a:xfrm>
            <a:off x="8935443" y="3181827"/>
            <a:ext cx="2939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Bounded, Realistic Distributions</a:t>
            </a:r>
            <a:endParaRPr lang="en-US" sz="1150" dirty="0"/>
          </a:p>
        </p:txBody>
      </p:sp>
      <p:pic>
        <p:nvPicPr>
          <p:cNvPr id="33" name="Image 7" descr="assets/after_cle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0033" y="3493985"/>
            <a:ext cx="3247342" cy="26974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Shape 22">
            <a:extLst>
              <a:ext uri="{FF2B5EF4-FFF2-40B4-BE49-F238E27FC236}">
                <a16:creationId xmlns:a16="http://schemas.microsoft.com/office/drawing/2014/main" id="{A475A493-4D08-096B-C407-1B63B8EB8915}"/>
              </a:ext>
            </a:extLst>
          </p:cNvPr>
          <p:cNvSpPr/>
          <p:nvPr/>
        </p:nvSpPr>
        <p:spPr>
          <a:xfrm>
            <a:off x="4512648" y="3181827"/>
            <a:ext cx="3756929" cy="3173253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C580DF63-3C74-DEE8-135E-C740598148ED}"/>
              </a:ext>
            </a:extLst>
          </p:cNvPr>
          <p:cNvSpPr/>
          <p:nvPr/>
        </p:nvSpPr>
        <p:spPr>
          <a:xfrm>
            <a:off x="5089975" y="3181826"/>
            <a:ext cx="2939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Unrealistic outlier value</a:t>
            </a:r>
            <a:endParaRPr lang="en-US" sz="11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A8EB43A-DD44-1B6E-832F-5BBF7B7C05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2654" y="3531823"/>
            <a:ext cx="3540537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Right Number of Segments (K-Means K=4)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segmented on standardized behavioral &amp; demographic features — age, loyalty score, spend, quantity, discount, reader group, format, channel and more.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43901" y="2034540"/>
            <a:ext cx="4404438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3901" y="2125980"/>
            <a:ext cx="4404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</a:t>
            </a:r>
            <a:endParaRPr lang="en-US" sz="1200" dirty="0"/>
          </a:p>
        </p:txBody>
      </p:sp>
      <p:pic>
        <p:nvPicPr>
          <p:cNvPr id="7" name="Image 0" descr="assets/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067" y="2446020"/>
            <a:ext cx="4038678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58867" y="2034540"/>
            <a:ext cx="4313066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35033" y="2125980"/>
            <a:ext cx="4313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Analysis</a:t>
            </a:r>
            <a:endParaRPr lang="en-US" sz="1200" dirty="0"/>
          </a:p>
        </p:txBody>
      </p:sp>
      <p:pic>
        <p:nvPicPr>
          <p:cNvPr id="10" name="Image 1" descr="assets/silhou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747" y="2446020"/>
            <a:ext cx="3947306" cy="31089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C2B45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</a:rPr>
              <a:t>  k = 4   </a:t>
            </a:r>
            <a:r>
              <a:rPr lang="en-US" sz="1300" dirty="0">
                <a:solidFill>
                  <a:srgbClr val="F1F5F9"/>
                </a:solidFill>
              </a:rPr>
              <a:t>   |   Silhouette Score = 0.082   →   </a:t>
            </a:r>
            <a:r>
              <a:rPr lang="en-US" sz="1300" i="1" dirty="0">
                <a:solidFill>
                  <a:srgbClr val="94A3B8"/>
                </a:solidFill>
              </a:rPr>
              <a:t>four behaviorally distinct customer segments selected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Profiles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14182"/>
            <a:ext cx="6766560" cy="4864077"/>
          </a:xfrm>
          <a:prstGeom prst="roundRect">
            <a:avLst>
              <a:gd name="adj" fmla="val 150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assets/pca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97062"/>
            <a:ext cx="6400800" cy="4498317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011502"/>
              </p:ext>
            </p:extLst>
          </p:nvPr>
        </p:nvGraphicFramePr>
        <p:xfrm>
          <a:off x="7635240" y="1783080"/>
          <a:ext cx="4007817" cy="3200400"/>
        </p:xfrm>
        <a:graphic>
          <a:graphicData uri="http://schemas.openxmlformats.org/drawingml/2006/table">
            <a:tbl>
              <a:tblPr/>
              <a:tblGrid>
                <a:gridCol w="1362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1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1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507</a:t>
                      </a:r>
                      <a:endParaRPr lang="en-US" sz="1200" b="1" dirty="0">
                        <a:solidFill>
                          <a:srgbClr val="FFFF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Spend (Tk)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Qty /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</a:t>
                      </a:r>
                      <a:endParaRPr lang="en-US" sz="1200" b="1" dirty="0">
                        <a:solidFill>
                          <a:srgbClr val="FFFF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</a:t>
                      </a:r>
                      <a:endParaRPr lang="en-US" sz="1200" b="1" dirty="0">
                        <a:solidFill>
                          <a:srgbClr val="FFFF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</a:t>
                      </a:r>
                      <a:endParaRPr lang="en-US" sz="1200" b="1" dirty="0">
                        <a:solidFill>
                          <a:srgbClr val="FFFF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</a:t>
                      </a:r>
                      <a:endParaRPr lang="en-US" sz="1200" b="1" dirty="0">
                        <a:solidFill>
                          <a:srgbClr val="FFFF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In-Store</a:t>
                      </a:r>
                      <a:endParaRPr lang="en-US" sz="1200" b="1" dirty="0">
                        <a:solidFill>
                          <a:srgbClr val="FFFF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In-Store</a:t>
                      </a:r>
                      <a:endParaRPr lang="en-US" sz="1200" b="1" dirty="0">
                        <a:solidFill>
                          <a:srgbClr val="FFFF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635240" y="5166360"/>
            <a:ext cx="4007815" cy="1371600"/>
          </a:xfrm>
          <a:prstGeom prst="roundRect">
            <a:avLst>
              <a:gd name="adj" fmla="val 5333"/>
            </a:avLst>
          </a:prstGeom>
          <a:solidFill>
            <a:srgbClr val="1C2B45"/>
          </a:solidFill>
          <a:ln/>
        </p:spPr>
      </p:sp>
      <p:sp>
        <p:nvSpPr>
          <p:cNvPr id="8" name="Text 4"/>
          <p:cNvSpPr/>
          <p:nvPr/>
        </p:nvSpPr>
        <p:spPr>
          <a:xfrm>
            <a:off x="7863840" y="5166360"/>
            <a:ext cx="36816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3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 high-volume, young demographic that prefers purchasing In-Store. </a:t>
            </a: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highest-value segment — 3x the spend &amp; basket size of others. </a:t>
            </a: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older, Professional reader segment — a target for premium offers. </a:t>
            </a:r>
            <a:endParaRPr lang="en-US" sz="1300" dirty="0"/>
          </a:p>
        </p:txBody>
      </p:sp>
      <p:sp>
        <p:nvSpPr>
          <p:cNvPr id="6" name="Text 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in Power BI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789978" cy="4430222"/>
          </a:xfrm>
          <a:prstGeom prst="roundRect">
            <a:avLst>
              <a:gd name="adj" fmla="val 2254"/>
            </a:avLst>
          </a:prstGeom>
          <a:solidFill>
            <a:srgbClr val="1621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39" y="2194560"/>
            <a:ext cx="4432069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sales_clean is the central fact table — one row per transaction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dimensions radiate outward: customers, books, stores, suppliers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relationship is one-to-many, enabling slicers on any dimension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DAX measures simple and aggregation fast across visuals.</a:t>
            </a:r>
            <a:endParaRPr lang="en-US" sz="1600" dirty="0"/>
          </a:p>
        </p:txBody>
      </p:sp>
      <p:pic>
        <p:nvPicPr>
          <p:cNvPr id="8" name="Image 0" descr="assets/data_mod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320" y="496867"/>
            <a:ext cx="6186055" cy="5702765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9" name="Text 6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BEHAVIOR &amp; SALES ANALYTICS  •  ROKOMARI BOOK SHOP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1632" y="9372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View of the Whole Business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78815" y="65151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slicers, filters and drill-through visuals — built on the star-schema model for fast, interactive analysis.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C2A66D-2B6B-D555-7EBD-402F0B265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2" y="693964"/>
            <a:ext cx="12156996" cy="61640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 Views — What Drove the Decline?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decomposition lets us to drill into what drives the year-over-year change in total sales — by book sub-category and by city.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52995" y="1943100"/>
            <a:ext cx="478625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2995" y="2052828"/>
            <a:ext cx="4786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Book Sub-Category</a:t>
            </a:r>
            <a:endParaRPr lang="en-US" sz="1200" dirty="0"/>
          </a:p>
        </p:txBody>
      </p:sp>
      <p:pic>
        <p:nvPicPr>
          <p:cNvPr id="7" name="Image 0" descr="assets/waterfall_subc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75" y="2400300"/>
            <a:ext cx="442049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48567" y="1943100"/>
            <a:ext cx="4133666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48567" y="2052828"/>
            <a:ext cx="4133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City</a:t>
            </a:r>
            <a:endParaRPr lang="en-US" sz="1200" dirty="0"/>
          </a:p>
        </p:txBody>
      </p:sp>
      <p:pic>
        <p:nvPicPr>
          <p:cNvPr id="10" name="Image 1" descr="assets/waterfall_cit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447" y="2400300"/>
            <a:ext cx="3767906" cy="3383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Classic, BCS &amp; Bank Jobs </a:t>
            </a: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sub-categories — and </a:t>
            </a: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Dhaka, Gopalganj &amp; Madaripur </a:t>
            </a: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show the steepest 2026 declines.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6213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3736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sales driven by the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“Young” reader segment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64992" y="155448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6213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152" y="173736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 / 45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02152" y="2606040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split between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and male customers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81344" y="155448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6213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18504" y="173736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Tk 2,239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18504" y="2606040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spend in Cluster 1 —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other segments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97696" y="155448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6213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34856" y="173736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34856" y="2606040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behavioral customer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identified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237731"/>
            <a:ext cx="11064240" cy="2423160"/>
          </a:xfrm>
          <a:prstGeom prst="roundRect">
            <a:avLst>
              <a:gd name="adj" fmla="val 3019"/>
            </a:avLst>
          </a:prstGeom>
          <a:solidFill>
            <a:srgbClr val="1C2B4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3205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b="1" dirty="0"/>
          </a:p>
        </p:txBody>
      </p:sp>
      <p:sp>
        <p:nvSpPr>
          <p:cNvPr id="18" name="Text 16"/>
          <p:cNvSpPr/>
          <p:nvPr/>
        </p:nvSpPr>
        <p:spPr>
          <a:xfrm>
            <a:off x="822960" y="4768083"/>
            <a:ext cx="10424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reproducible pipeline: synthetic data → cleaning → PostgreSQL star schema → K-Means segmentation → interactive Power BI dashboard.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Rokomari to target reader segments, prioritize high-value customers, optimize inventory, and address regional sales declines.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clean, star-schema design is scalable — new stores, products or years of data can be added with minimal rework.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5943600" cy="5943600"/>
          </a:xfrm>
          <a:prstGeom prst="ellipse">
            <a:avLst/>
          </a:prstGeom>
          <a:solidFill>
            <a:srgbClr val="1C2B4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291840"/>
            <a:ext cx="5486400" cy="5486400"/>
          </a:xfrm>
          <a:prstGeom prst="ellipse">
            <a:avLst/>
          </a:prstGeom>
          <a:solidFill>
            <a:srgbClr val="16213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548640"/>
            <a:ext cx="2103120" cy="2103120"/>
          </a:xfrm>
          <a:prstGeom prst="ellipse">
            <a:avLst/>
          </a:prstGeom>
          <a:solidFill>
            <a:srgbClr val="0F3B36">
              <a:alpha val="7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-1" y="2182633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0" y="379476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31855" y="3254593"/>
            <a:ext cx="3602181" cy="820583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9491" y="3382172"/>
            <a:ext cx="3026908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· INSIGHT ORBIT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068945" y="4343400"/>
            <a:ext cx="89315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Kh. Ehsanur Rahman — Data Science Faculty, UIU  |  MSCSE, Dept. of CSE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1231</Words>
  <Application>Microsoft Office PowerPoint</Application>
  <PresentationFormat>Widescreen</PresentationFormat>
  <Paragraphs>237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Cascadia Code SemiBold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Behavior &amp; Sales Analytics</dc:title>
  <dc:subject>PptxGenJS Presentation</dc:subject>
  <dc:creator>Group 4: Insight Orbit</dc:creator>
  <cp:lastModifiedBy>Wazih Ullah Tanzim</cp:lastModifiedBy>
  <cp:revision>41</cp:revision>
  <dcterms:created xsi:type="dcterms:W3CDTF">2026-06-15T11:14:52Z</dcterms:created>
  <dcterms:modified xsi:type="dcterms:W3CDTF">2026-06-15T15:47:22Z</dcterms:modified>
</cp:coreProperties>
</file>